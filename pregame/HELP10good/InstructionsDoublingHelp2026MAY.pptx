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7" r:id="rId3"/>
    <p:sldId id="259" r:id="rId4"/>
    <p:sldId id="264" r:id="rId5"/>
    <p:sldId id="266" r:id="rId6"/>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6"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2" name="PlaceHolder 3"/>
          <p:cNvSpPr>
            <a:spLocks noGrp="1"/>
          </p:cNvSpPr>
          <p:nvPr>
            <p:ph type="dt"/>
          </p:nvPr>
        </p:nvSpPr>
        <p:spPr>
          <a:xfrm>
            <a:off x="838080" y="6356520"/>
            <a:ext cx="2742840" cy="364680"/>
          </a:xfrm>
          <a:prstGeom prst="rect">
            <a:avLst/>
          </a:prstGeom>
        </p:spPr>
        <p:txBody>
          <a:bodyPr anchor="ctr">
            <a:noAutofit/>
          </a:bodyPr>
          <a:lstStyle/>
          <a:p>
            <a:pPr>
              <a:lnSpc>
                <a:spcPct val="100000"/>
              </a:lnSpc>
            </a:pPr>
            <a:fld id="{E5A2A0C9-109A-4842-AD69-4E32C2B187DE}" type="datetime">
              <a:rPr lang="en-US" sz="1200" b="0" strike="noStrike" spc="-1">
                <a:solidFill>
                  <a:srgbClr val="8B8B8B"/>
                </a:solidFill>
                <a:latin typeface="Calibri"/>
              </a:rPr>
              <a:t>5/4/2026</a:t>
            </a:fld>
            <a:endParaRPr lang="en-US" sz="1200" b="0" strike="noStrike" spc="-1">
              <a:latin typeface="Times New Roman"/>
            </a:endParaRPr>
          </a:p>
        </p:txBody>
      </p:sp>
      <p:sp>
        <p:nvSpPr>
          <p:cNvPr id="3" name="PlaceHolder 4"/>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4" name="PlaceHolder 5"/>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95301C3A-94F8-4AFC-82F0-C19F987F204C}"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Shape 1"/>
          <p:cNvSpPr txBox="1"/>
          <p:nvPr/>
        </p:nvSpPr>
        <p:spPr>
          <a:xfrm>
            <a:off x="2608200" y="3588480"/>
            <a:ext cx="6975000" cy="2596320"/>
          </a:xfrm>
          <a:prstGeom prst="rect">
            <a:avLst/>
          </a:prstGeom>
          <a:noFill/>
          <a:ln>
            <a:noFill/>
          </a:ln>
        </p:spPr>
        <p:txBody>
          <a:bodyPr>
            <a:noAutofit/>
          </a:bodyPr>
          <a:lstStyle/>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In this task you will try to find secret rules (1) that control which pieces (2) can move, and which buckets (3) they can go into. You move them by drag and drop to earn a reward</a:t>
            </a:r>
          </a:p>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You will have a chance to clear several boards for each rule</a:t>
            </a:r>
          </a:p>
        </p:txBody>
      </p:sp>
      <p:pic>
        <p:nvPicPr>
          <p:cNvPr id="42" name="Picture 4"/>
          <p:cNvPicPr/>
          <p:nvPr/>
        </p:nvPicPr>
        <p:blipFill rotWithShape="1">
          <a:blip r:embed="rId2"/>
          <a:srcRect l="39898" t="13402" r="12845"/>
          <a:stretch/>
        </p:blipFill>
        <p:spPr>
          <a:xfrm>
            <a:off x="5801192" y="493560"/>
            <a:ext cx="3782007" cy="3086280"/>
          </a:xfrm>
          <a:prstGeom prst="rect">
            <a:avLst/>
          </a:prstGeom>
          <a:ln>
            <a:noFill/>
          </a:ln>
        </p:spPr>
      </p:pic>
      <p:pic>
        <p:nvPicPr>
          <p:cNvPr id="2" name="Content Placeholder 4">
            <a:extLst>
              <a:ext uri="{FF2B5EF4-FFF2-40B4-BE49-F238E27FC236}">
                <a16:creationId xmlns:a16="http://schemas.microsoft.com/office/drawing/2014/main" id="{6E8B3C01-34B2-1787-C452-109E4573FFE2}"/>
              </a:ext>
            </a:extLst>
          </p:cNvPr>
          <p:cNvPicPr>
            <a:picLocks noChangeAspect="1"/>
          </p:cNvPicPr>
          <p:nvPr/>
        </p:nvPicPr>
        <p:blipFill rotWithShape="1">
          <a:blip r:embed="rId3"/>
          <a:srcRect l="50000" r="1933"/>
          <a:stretch/>
        </p:blipFill>
        <p:spPr>
          <a:xfrm>
            <a:off x="6651913" y="665344"/>
            <a:ext cx="2715596" cy="2897511"/>
          </a:xfrm>
          <a:prstGeom prst="rect">
            <a:avLst/>
          </a:prstGeom>
        </p:spPr>
      </p:pic>
      <p:sp>
        <p:nvSpPr>
          <p:cNvPr id="43" name="CustomShape 2"/>
          <p:cNvSpPr/>
          <p:nvPr/>
        </p:nvSpPr>
        <p:spPr>
          <a:xfrm>
            <a:off x="9056173" y="2170138"/>
            <a:ext cx="1255320" cy="327240"/>
          </a:xfrm>
          <a:prstGeom prst="borderCallout2">
            <a:avLst>
              <a:gd name="adj1" fmla="val 18750"/>
              <a:gd name="adj2" fmla="val -8333"/>
              <a:gd name="adj3" fmla="val 18750"/>
              <a:gd name="adj4" fmla="val -16667"/>
              <a:gd name="adj5" fmla="val 5558"/>
              <a:gd name="adj6" fmla="val -45768"/>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Calibri"/>
              </a:rPr>
              <a:t>(2) Pieces</a:t>
            </a:r>
            <a:endParaRPr lang="en-US" sz="1800" b="0" strike="noStrike" spc="-1">
              <a:latin typeface="Arial"/>
            </a:endParaRPr>
          </a:p>
        </p:txBody>
      </p:sp>
      <p:sp>
        <p:nvSpPr>
          <p:cNvPr id="44" name="CustomShape 3"/>
          <p:cNvSpPr/>
          <p:nvPr/>
        </p:nvSpPr>
        <p:spPr>
          <a:xfrm>
            <a:off x="9590413" y="1077898"/>
            <a:ext cx="1255320" cy="327240"/>
          </a:xfrm>
          <a:prstGeom prst="borderCallout2">
            <a:avLst>
              <a:gd name="adj1" fmla="val 18750"/>
              <a:gd name="adj2" fmla="val -8333"/>
              <a:gd name="adj3" fmla="val 18750"/>
              <a:gd name="adj4" fmla="val -16667"/>
              <a:gd name="adj5" fmla="val 91802"/>
              <a:gd name="adj6" fmla="val -65552"/>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dirty="0">
                <a:solidFill>
                  <a:srgbClr val="FFFFFF"/>
                </a:solidFill>
                <a:latin typeface="Calibri"/>
              </a:rPr>
              <a:t>(3) Buckets</a:t>
            </a:r>
            <a:endParaRPr lang="en-US" sz="1800" b="0" strike="noStrike" spc="-1" dirty="0">
              <a:latin typeface="Arial"/>
            </a:endParaRPr>
          </a:p>
        </p:txBody>
      </p:sp>
      <p:sp>
        <p:nvSpPr>
          <p:cNvPr id="45" name="CustomShape 4"/>
          <p:cNvSpPr/>
          <p:nvPr/>
        </p:nvSpPr>
        <p:spPr>
          <a:xfrm>
            <a:off x="5745613" y="354658"/>
            <a:ext cx="1812600" cy="327240"/>
          </a:xfrm>
          <a:prstGeom prst="borderCallout2">
            <a:avLst>
              <a:gd name="adj1" fmla="val 70596"/>
              <a:gd name="adj2" fmla="val 104027"/>
              <a:gd name="adj3" fmla="val 50655"/>
              <a:gd name="adj4" fmla="val 100059"/>
              <a:gd name="adj5" fmla="val 118861"/>
              <a:gd name="adj6" fmla="val 119980"/>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dirty="0">
                <a:solidFill>
                  <a:srgbClr val="FFFFFF"/>
                </a:solidFill>
                <a:latin typeface="Calibri"/>
              </a:rPr>
              <a:t>(1) Rule Number</a:t>
            </a:r>
            <a:endParaRPr lang="en-US" sz="1800" b="0" strike="noStrike" spc="-1" dirty="0">
              <a:latin typeface="Arial"/>
            </a:endParaRPr>
          </a:p>
        </p:txBody>
      </p:sp>
      <p:grpSp>
        <p:nvGrpSpPr>
          <p:cNvPr id="7" name="Group 6">
            <a:extLst>
              <a:ext uri="{FF2B5EF4-FFF2-40B4-BE49-F238E27FC236}">
                <a16:creationId xmlns:a16="http://schemas.microsoft.com/office/drawing/2014/main" id="{AF3B62F2-71FA-9F78-0E7B-71FF0C9572AA}"/>
              </a:ext>
            </a:extLst>
          </p:cNvPr>
          <p:cNvGrpSpPr/>
          <p:nvPr/>
        </p:nvGrpSpPr>
        <p:grpSpPr>
          <a:xfrm>
            <a:off x="8707133" y="2034618"/>
            <a:ext cx="213195" cy="1224070"/>
            <a:chOff x="10737027" y="3081867"/>
            <a:chExt cx="213195" cy="2263353"/>
          </a:xfrm>
        </p:grpSpPr>
        <p:sp>
          <p:nvSpPr>
            <p:cNvPr id="3" name="Flowchart: Process 2">
              <a:extLst>
                <a:ext uri="{FF2B5EF4-FFF2-40B4-BE49-F238E27FC236}">
                  <a16:creationId xmlns:a16="http://schemas.microsoft.com/office/drawing/2014/main" id="{A50E5510-8E12-6DED-B588-CEFDFA4B6A49}"/>
                </a:ext>
              </a:extLst>
            </p:cNvPr>
            <p:cNvSpPr/>
            <p:nvPr/>
          </p:nvSpPr>
          <p:spPr>
            <a:xfrm>
              <a:off x="10737028" y="3194756"/>
              <a:ext cx="213194" cy="1986844"/>
            </a:xfrm>
            <a:prstGeom prst="flowChart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4BC4CB71-3FB9-B833-4E63-87C30640108C}"/>
                </a:ext>
              </a:extLst>
            </p:cNvPr>
            <p:cNvSpPr/>
            <p:nvPr/>
          </p:nvSpPr>
          <p:spPr>
            <a:xfrm>
              <a:off x="10737027" y="5017980"/>
              <a:ext cx="213195" cy="327240"/>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C91F8DD-AD6F-2D5F-328E-2FE9261AB8E5}"/>
                </a:ext>
              </a:extLst>
            </p:cNvPr>
            <p:cNvSpPr/>
            <p:nvPr/>
          </p:nvSpPr>
          <p:spPr>
            <a:xfrm>
              <a:off x="10737027" y="3081867"/>
              <a:ext cx="213194" cy="146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79F54BA-9664-FB82-C69B-974328439C2E}"/>
                </a:ext>
              </a:extLst>
            </p:cNvPr>
            <p:cNvSpPr/>
            <p:nvPr/>
          </p:nvSpPr>
          <p:spPr>
            <a:xfrm>
              <a:off x="10746548" y="4989402"/>
              <a:ext cx="198910" cy="2068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B6716588-A5A8-8010-FE8E-AF59FAF04EF4}"/>
              </a:ext>
            </a:extLst>
          </p:cNvPr>
          <p:cNvGrpSpPr/>
          <p:nvPr/>
        </p:nvGrpSpPr>
        <p:grpSpPr>
          <a:xfrm>
            <a:off x="8700783" y="1228168"/>
            <a:ext cx="213195" cy="858863"/>
            <a:chOff x="10737027" y="3081867"/>
            <a:chExt cx="213195" cy="2263353"/>
          </a:xfrm>
        </p:grpSpPr>
        <p:sp>
          <p:nvSpPr>
            <p:cNvPr id="9" name="Flowchart: Process 8">
              <a:extLst>
                <a:ext uri="{FF2B5EF4-FFF2-40B4-BE49-F238E27FC236}">
                  <a16:creationId xmlns:a16="http://schemas.microsoft.com/office/drawing/2014/main" id="{AD91A981-1832-C893-B2EB-279A1AE50F20}"/>
                </a:ext>
              </a:extLst>
            </p:cNvPr>
            <p:cNvSpPr/>
            <p:nvPr/>
          </p:nvSpPr>
          <p:spPr>
            <a:xfrm>
              <a:off x="10737028" y="3194756"/>
              <a:ext cx="213194" cy="1986844"/>
            </a:xfrm>
            <a:prstGeom prst="flowChart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A0EBC48-C91B-F2EE-5E23-EEB85AA0E219}"/>
                </a:ext>
              </a:extLst>
            </p:cNvPr>
            <p:cNvSpPr/>
            <p:nvPr/>
          </p:nvSpPr>
          <p:spPr>
            <a:xfrm>
              <a:off x="10737027" y="5017980"/>
              <a:ext cx="213195" cy="327240"/>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475ACD5-8F3F-49C0-9F5A-74CFC4A394FA}"/>
                </a:ext>
              </a:extLst>
            </p:cNvPr>
            <p:cNvSpPr/>
            <p:nvPr/>
          </p:nvSpPr>
          <p:spPr>
            <a:xfrm>
              <a:off x="10737027" y="3081867"/>
              <a:ext cx="213194" cy="146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78BF99-C7F7-4B36-3047-224211B4E8B2}"/>
                </a:ext>
              </a:extLst>
            </p:cNvPr>
            <p:cNvSpPr/>
            <p:nvPr/>
          </p:nvSpPr>
          <p:spPr>
            <a:xfrm>
              <a:off x="10746548" y="4989402"/>
              <a:ext cx="198910" cy="2068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90EEBBA-D9E0-6DB1-FB21-A2391E4A6FEA}"/>
              </a:ext>
            </a:extLst>
          </p:cNvPr>
          <p:cNvGrpSpPr/>
          <p:nvPr/>
        </p:nvGrpSpPr>
        <p:grpSpPr>
          <a:xfrm>
            <a:off x="6751333" y="1094818"/>
            <a:ext cx="213195" cy="858863"/>
            <a:chOff x="10737027" y="3081867"/>
            <a:chExt cx="213195" cy="2263353"/>
          </a:xfrm>
        </p:grpSpPr>
        <p:sp>
          <p:nvSpPr>
            <p:cNvPr id="14" name="Flowchart: Process 13">
              <a:extLst>
                <a:ext uri="{FF2B5EF4-FFF2-40B4-BE49-F238E27FC236}">
                  <a16:creationId xmlns:a16="http://schemas.microsoft.com/office/drawing/2014/main" id="{64A00753-F1E6-43B5-4B7B-638A02C2E86C}"/>
                </a:ext>
              </a:extLst>
            </p:cNvPr>
            <p:cNvSpPr/>
            <p:nvPr/>
          </p:nvSpPr>
          <p:spPr>
            <a:xfrm>
              <a:off x="10737028" y="3194756"/>
              <a:ext cx="213194" cy="1986844"/>
            </a:xfrm>
            <a:prstGeom prst="flowChart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800D76B-FBFB-8161-9584-DD4BA78BD746}"/>
                </a:ext>
              </a:extLst>
            </p:cNvPr>
            <p:cNvSpPr/>
            <p:nvPr/>
          </p:nvSpPr>
          <p:spPr>
            <a:xfrm>
              <a:off x="10737027" y="5017980"/>
              <a:ext cx="213195" cy="327240"/>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DA7B5B-6EE3-4AF8-D0A9-B44B0FC066FF}"/>
                </a:ext>
              </a:extLst>
            </p:cNvPr>
            <p:cNvSpPr/>
            <p:nvPr/>
          </p:nvSpPr>
          <p:spPr>
            <a:xfrm>
              <a:off x="10737027" y="3081867"/>
              <a:ext cx="213194" cy="146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7D22815-EEB6-11E4-D5C3-6322F040C285}"/>
                </a:ext>
              </a:extLst>
            </p:cNvPr>
            <p:cNvSpPr/>
            <p:nvPr/>
          </p:nvSpPr>
          <p:spPr>
            <a:xfrm>
              <a:off x="10746548" y="4989402"/>
              <a:ext cx="198910" cy="2068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FB59ED6-6DE3-CA56-60C2-67750E2E8F27}"/>
              </a:ext>
            </a:extLst>
          </p:cNvPr>
          <p:cNvGrpSpPr/>
          <p:nvPr/>
        </p:nvGrpSpPr>
        <p:grpSpPr>
          <a:xfrm>
            <a:off x="6808483" y="2333068"/>
            <a:ext cx="213195" cy="858863"/>
            <a:chOff x="10737027" y="3081867"/>
            <a:chExt cx="213195" cy="2263353"/>
          </a:xfrm>
        </p:grpSpPr>
        <p:sp>
          <p:nvSpPr>
            <p:cNvPr id="19" name="Flowchart: Process 18">
              <a:extLst>
                <a:ext uri="{FF2B5EF4-FFF2-40B4-BE49-F238E27FC236}">
                  <a16:creationId xmlns:a16="http://schemas.microsoft.com/office/drawing/2014/main" id="{A0803A63-3F9F-7FE9-1F84-073F9DC8B216}"/>
                </a:ext>
              </a:extLst>
            </p:cNvPr>
            <p:cNvSpPr/>
            <p:nvPr/>
          </p:nvSpPr>
          <p:spPr>
            <a:xfrm>
              <a:off x="10737028" y="3194756"/>
              <a:ext cx="213194" cy="1986844"/>
            </a:xfrm>
            <a:prstGeom prst="flowChart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BCDA253-F0C8-4AEF-DF11-F79C86480007}"/>
                </a:ext>
              </a:extLst>
            </p:cNvPr>
            <p:cNvSpPr/>
            <p:nvPr/>
          </p:nvSpPr>
          <p:spPr>
            <a:xfrm>
              <a:off x="10737027" y="5017980"/>
              <a:ext cx="213195" cy="327240"/>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D2082EF-9485-5608-DAF7-983E3721E380}"/>
                </a:ext>
              </a:extLst>
            </p:cNvPr>
            <p:cNvSpPr/>
            <p:nvPr/>
          </p:nvSpPr>
          <p:spPr>
            <a:xfrm>
              <a:off x="10737027" y="3081867"/>
              <a:ext cx="213194" cy="146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B6B5311-F964-C5BA-A38D-00E03553D7D0}"/>
                </a:ext>
              </a:extLst>
            </p:cNvPr>
            <p:cNvSpPr/>
            <p:nvPr/>
          </p:nvSpPr>
          <p:spPr>
            <a:xfrm>
              <a:off x="10746548" y="4989402"/>
              <a:ext cx="198910" cy="2068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EC6C5A22-3418-1786-E692-67C21E219452}"/>
              </a:ext>
            </a:extLst>
          </p:cNvPr>
          <p:cNvSpPr/>
          <p:nvPr/>
        </p:nvSpPr>
        <p:spPr>
          <a:xfrm>
            <a:off x="770347" y="1253391"/>
            <a:ext cx="4087440" cy="415353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0" strike="noStrike" spc="-1" dirty="0">
                <a:solidFill>
                  <a:srgbClr val="000000"/>
                </a:solidFill>
                <a:latin typeface="Calibri"/>
              </a:rPr>
              <a:t>There is information to help.</a:t>
            </a:r>
          </a:p>
          <a:p>
            <a:pPr>
              <a:lnSpc>
                <a:spcPct val="100000"/>
              </a:lnSpc>
            </a:pPr>
            <a:r>
              <a:rPr lang="en-US" sz="2400" spc="-1" dirty="0">
                <a:solidFill>
                  <a:srgbClr val="000000"/>
                </a:solidFill>
                <a:latin typeface="Calibri"/>
              </a:rPr>
              <a:t>The “test tubes” (1) next to each bucket show every piece you have successfully dropped in that bucket. </a:t>
            </a:r>
          </a:p>
          <a:p>
            <a:pPr>
              <a:lnSpc>
                <a:spcPct val="100000"/>
              </a:lnSpc>
            </a:pPr>
            <a:endParaRPr lang="en-US" sz="2400" spc="-1" dirty="0">
              <a:solidFill>
                <a:srgbClr val="000000"/>
              </a:solidFill>
              <a:latin typeface="Calibri"/>
            </a:endParaRPr>
          </a:p>
          <a:p>
            <a:pPr>
              <a:lnSpc>
                <a:spcPct val="100000"/>
              </a:lnSpc>
            </a:pPr>
            <a:r>
              <a:rPr lang="en-US" sz="2400" spc="-1" dirty="0">
                <a:solidFill>
                  <a:srgbClr val="000000"/>
                </a:solidFill>
                <a:latin typeface="Calibri"/>
              </a:rPr>
              <a:t>The numbers in the test tube show which order they were dropped in, and link to the position where the piece used to be.</a:t>
            </a:r>
            <a:endParaRPr lang="en-US" sz="2000" b="0" strike="noStrike" spc="-1" dirty="0">
              <a:latin typeface="Arial"/>
            </a:endParaRPr>
          </a:p>
        </p:txBody>
      </p:sp>
      <p:pic>
        <p:nvPicPr>
          <p:cNvPr id="3" name="Content Placeholder 4">
            <a:extLst>
              <a:ext uri="{FF2B5EF4-FFF2-40B4-BE49-F238E27FC236}">
                <a16:creationId xmlns:a16="http://schemas.microsoft.com/office/drawing/2014/main" id="{B5560723-AC0C-0617-9F1F-626B59AA3C5D}"/>
              </a:ext>
            </a:extLst>
          </p:cNvPr>
          <p:cNvPicPr>
            <a:picLocks noChangeAspect="1"/>
          </p:cNvPicPr>
          <p:nvPr/>
        </p:nvPicPr>
        <p:blipFill rotWithShape="1">
          <a:blip r:embed="rId2"/>
          <a:srcRect l="48118"/>
          <a:stretch/>
        </p:blipFill>
        <p:spPr>
          <a:xfrm>
            <a:off x="5982968" y="1253391"/>
            <a:ext cx="3622324" cy="3614476"/>
          </a:xfrm>
          <a:prstGeom prst="rect">
            <a:avLst/>
          </a:prstGeom>
        </p:spPr>
      </p:pic>
      <p:sp>
        <p:nvSpPr>
          <p:cNvPr id="4" name="Callout: Line 3">
            <a:extLst>
              <a:ext uri="{FF2B5EF4-FFF2-40B4-BE49-F238E27FC236}">
                <a16:creationId xmlns:a16="http://schemas.microsoft.com/office/drawing/2014/main" id="{55581543-F602-B95F-08D9-9A33B839020C}"/>
              </a:ext>
            </a:extLst>
          </p:cNvPr>
          <p:cNvSpPr/>
          <p:nvPr/>
        </p:nvSpPr>
        <p:spPr>
          <a:xfrm>
            <a:off x="10081361" y="920205"/>
            <a:ext cx="1433305" cy="671527"/>
          </a:xfrm>
          <a:prstGeom prst="borderCallout1">
            <a:avLst>
              <a:gd name="adj1" fmla="val 61250"/>
              <a:gd name="adj2" fmla="val -2246"/>
              <a:gd name="adj3" fmla="val 472500"/>
              <a:gd name="adj4" fmla="val -80073"/>
            </a:avLst>
          </a:prstGeom>
          <a:solidFill>
            <a:srgbClr val="00B0F0"/>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 “Test tubes”</a:t>
            </a:r>
          </a:p>
        </p:txBody>
      </p:sp>
      <p:cxnSp>
        <p:nvCxnSpPr>
          <p:cNvPr id="6" name="Straight Arrow Connector 5">
            <a:extLst>
              <a:ext uri="{FF2B5EF4-FFF2-40B4-BE49-F238E27FC236}">
                <a16:creationId xmlns:a16="http://schemas.microsoft.com/office/drawing/2014/main" id="{B7BF7AD2-9E68-2BB6-CF1E-86D479DA16B5}"/>
              </a:ext>
            </a:extLst>
          </p:cNvPr>
          <p:cNvCxnSpPr>
            <a:cxnSpLocks/>
            <a:stCxn id="4" idx="2"/>
          </p:cNvCxnSpPr>
          <p:nvPr/>
        </p:nvCxnSpPr>
        <p:spPr>
          <a:xfrm flipH="1">
            <a:off x="8918222" y="1255969"/>
            <a:ext cx="1163139" cy="1295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4931088-CC32-E39C-2592-9C653F2168DF}"/>
              </a:ext>
            </a:extLst>
          </p:cNvPr>
          <p:cNvCxnSpPr>
            <a:cxnSpLocks/>
            <a:stCxn id="4" idx="2"/>
          </p:cNvCxnSpPr>
          <p:nvPr/>
        </p:nvCxnSpPr>
        <p:spPr>
          <a:xfrm flipH="1">
            <a:off x="6518102" y="1255969"/>
            <a:ext cx="3563259" cy="584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FF9F6126-7E2D-5E15-33E9-1B4DC45239A9}"/>
              </a:ext>
            </a:extLst>
          </p:cNvPr>
          <p:cNvGrpSpPr/>
          <p:nvPr/>
        </p:nvGrpSpPr>
        <p:grpSpPr>
          <a:xfrm>
            <a:off x="6344933" y="3155951"/>
            <a:ext cx="278117" cy="1235420"/>
            <a:chOff x="10737027" y="3081867"/>
            <a:chExt cx="213195" cy="2263353"/>
          </a:xfrm>
        </p:grpSpPr>
        <p:sp>
          <p:nvSpPr>
            <p:cNvPr id="8" name="Flowchart: Process 7">
              <a:extLst>
                <a:ext uri="{FF2B5EF4-FFF2-40B4-BE49-F238E27FC236}">
                  <a16:creationId xmlns:a16="http://schemas.microsoft.com/office/drawing/2014/main" id="{862D7B80-CAC2-976C-0462-6A89C3D71EF9}"/>
                </a:ext>
              </a:extLst>
            </p:cNvPr>
            <p:cNvSpPr/>
            <p:nvPr/>
          </p:nvSpPr>
          <p:spPr>
            <a:xfrm>
              <a:off x="10737028" y="3194756"/>
              <a:ext cx="213194" cy="1986844"/>
            </a:xfrm>
            <a:prstGeom prst="flowChart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76040C5-1538-708D-E9EF-D4E659A4C950}"/>
                </a:ext>
              </a:extLst>
            </p:cNvPr>
            <p:cNvSpPr/>
            <p:nvPr/>
          </p:nvSpPr>
          <p:spPr>
            <a:xfrm>
              <a:off x="10737027" y="5017980"/>
              <a:ext cx="213195" cy="327240"/>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D16087-593F-169C-3B43-A01CE4C37EEA}"/>
                </a:ext>
              </a:extLst>
            </p:cNvPr>
            <p:cNvSpPr/>
            <p:nvPr/>
          </p:nvSpPr>
          <p:spPr>
            <a:xfrm>
              <a:off x="10737027" y="3081867"/>
              <a:ext cx="213194" cy="146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AA47732-0876-BA78-B8DF-2B512BF23BB0}"/>
                </a:ext>
              </a:extLst>
            </p:cNvPr>
            <p:cNvSpPr/>
            <p:nvPr/>
          </p:nvSpPr>
          <p:spPr>
            <a:xfrm>
              <a:off x="10746548" y="4989402"/>
              <a:ext cx="198910" cy="2068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F5A902E-9415-0D9E-44A7-83A1D88BF499}"/>
              </a:ext>
            </a:extLst>
          </p:cNvPr>
          <p:cNvGrpSpPr/>
          <p:nvPr/>
        </p:nvGrpSpPr>
        <p:grpSpPr>
          <a:xfrm>
            <a:off x="6332233" y="1860551"/>
            <a:ext cx="278117" cy="1235420"/>
            <a:chOff x="10737027" y="3081867"/>
            <a:chExt cx="213195" cy="2263353"/>
          </a:xfrm>
        </p:grpSpPr>
        <p:sp>
          <p:nvSpPr>
            <p:cNvPr id="19" name="Flowchart: Process 18">
              <a:extLst>
                <a:ext uri="{FF2B5EF4-FFF2-40B4-BE49-F238E27FC236}">
                  <a16:creationId xmlns:a16="http://schemas.microsoft.com/office/drawing/2014/main" id="{1095FA91-70ED-83BF-FD1A-7F51635AC32B}"/>
                </a:ext>
              </a:extLst>
            </p:cNvPr>
            <p:cNvSpPr/>
            <p:nvPr/>
          </p:nvSpPr>
          <p:spPr>
            <a:xfrm>
              <a:off x="10737028" y="3194756"/>
              <a:ext cx="213194" cy="1986844"/>
            </a:xfrm>
            <a:prstGeom prst="flowChart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E27254E-F68C-9627-E7F4-C1C4B774DA77}"/>
                </a:ext>
              </a:extLst>
            </p:cNvPr>
            <p:cNvSpPr/>
            <p:nvPr/>
          </p:nvSpPr>
          <p:spPr>
            <a:xfrm>
              <a:off x="10737027" y="5017980"/>
              <a:ext cx="213195" cy="327240"/>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89EC2BE-0463-2166-247F-2BFDDD15B0DA}"/>
                </a:ext>
              </a:extLst>
            </p:cNvPr>
            <p:cNvSpPr/>
            <p:nvPr/>
          </p:nvSpPr>
          <p:spPr>
            <a:xfrm>
              <a:off x="10737027" y="3081867"/>
              <a:ext cx="213194" cy="146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1F2AE0B-60B4-B6ED-B838-2E18580EC533}"/>
                </a:ext>
              </a:extLst>
            </p:cNvPr>
            <p:cNvSpPr/>
            <p:nvPr/>
          </p:nvSpPr>
          <p:spPr>
            <a:xfrm>
              <a:off x="10746548" y="4989402"/>
              <a:ext cx="198910" cy="2068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1721D423-8DD6-2993-3CBC-819BB54CAC13}"/>
              </a:ext>
            </a:extLst>
          </p:cNvPr>
          <p:cNvGrpSpPr/>
          <p:nvPr/>
        </p:nvGrpSpPr>
        <p:grpSpPr>
          <a:xfrm>
            <a:off x="8789683" y="1822451"/>
            <a:ext cx="278117" cy="1235420"/>
            <a:chOff x="10737027" y="3081867"/>
            <a:chExt cx="213195" cy="2263353"/>
          </a:xfrm>
        </p:grpSpPr>
        <p:sp>
          <p:nvSpPr>
            <p:cNvPr id="26" name="Flowchart: Process 25">
              <a:extLst>
                <a:ext uri="{FF2B5EF4-FFF2-40B4-BE49-F238E27FC236}">
                  <a16:creationId xmlns:a16="http://schemas.microsoft.com/office/drawing/2014/main" id="{8377F52C-9A44-856C-9FBC-7BF825CD3F21}"/>
                </a:ext>
              </a:extLst>
            </p:cNvPr>
            <p:cNvSpPr/>
            <p:nvPr/>
          </p:nvSpPr>
          <p:spPr>
            <a:xfrm>
              <a:off x="10737028" y="3194756"/>
              <a:ext cx="213194" cy="1986844"/>
            </a:xfrm>
            <a:prstGeom prst="flowChart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D476E27-B888-8DFA-55B6-3C98E1F1A207}"/>
                </a:ext>
              </a:extLst>
            </p:cNvPr>
            <p:cNvSpPr/>
            <p:nvPr/>
          </p:nvSpPr>
          <p:spPr>
            <a:xfrm>
              <a:off x="10737027" y="5017980"/>
              <a:ext cx="213195" cy="327240"/>
            </a:xfrm>
            <a:prstGeom prst="ellipse">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417E4BD-F9EE-F64B-F0DC-250C004C4C16}"/>
                </a:ext>
              </a:extLst>
            </p:cNvPr>
            <p:cNvSpPr/>
            <p:nvPr/>
          </p:nvSpPr>
          <p:spPr>
            <a:xfrm>
              <a:off x="10737027" y="3081867"/>
              <a:ext cx="213194" cy="146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912D351-739F-AB5E-3481-3DE4FADD5FE2}"/>
                </a:ext>
              </a:extLst>
            </p:cNvPr>
            <p:cNvSpPr/>
            <p:nvPr/>
          </p:nvSpPr>
          <p:spPr>
            <a:xfrm>
              <a:off x="10746548" y="4989402"/>
              <a:ext cx="198910" cy="2068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829CE45A-F4ED-D899-94E1-E11ACD8CA082}"/>
              </a:ext>
            </a:extLst>
          </p:cNvPr>
          <p:cNvCxnSpPr>
            <a:cxnSpLocks/>
          </p:cNvCxnSpPr>
          <p:nvPr/>
        </p:nvCxnSpPr>
        <p:spPr>
          <a:xfrm flipH="1">
            <a:off x="6506813" y="1239118"/>
            <a:ext cx="3563260" cy="2188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920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Shape 2"/>
          <p:cNvSpPr txBox="1"/>
          <p:nvPr/>
        </p:nvSpPr>
        <p:spPr>
          <a:xfrm>
            <a:off x="605989" y="424912"/>
            <a:ext cx="4529880" cy="435096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0000"/>
              </a:buClr>
              <a:buFont typeface="Arial"/>
              <a:buChar char="•"/>
            </a:pPr>
            <a:endParaRPr lang="en-US" sz="2800" b="0" strike="noStrike" spc="-1" dirty="0">
              <a:solidFill>
                <a:srgbClr val="000000"/>
              </a:solidFill>
              <a:latin typeface="Calibri"/>
            </a:endParaRPr>
          </a:p>
          <a:p>
            <a:pPr marL="228600" indent="-227965">
              <a:lnSpc>
                <a:spcPct val="90000"/>
              </a:lnSpc>
              <a:spcBef>
                <a:spcPts val="1001"/>
              </a:spcBef>
              <a:buClr>
                <a:srgbClr val="000000"/>
              </a:buClr>
              <a:buFont typeface="Arial"/>
              <a:buChar char="•"/>
            </a:pPr>
            <a:endParaRPr lang="en-US" sz="2800"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b="0" strike="noStrike" spc="-1" dirty="0">
                <a:solidFill>
                  <a:srgbClr val="000000"/>
                </a:solidFill>
                <a:latin typeface="Calibri"/>
              </a:rPr>
              <a:t>A wrong move is shown with a frown face.</a:t>
            </a:r>
            <a:r>
              <a:rPr lang="en-US" sz="2800" spc="-1" dirty="0">
                <a:solidFill>
                  <a:srgbClr val="000000"/>
                </a:solidFill>
                <a:latin typeface="Calibri"/>
              </a:rPr>
              <a:t>  </a:t>
            </a:r>
            <a:endParaRPr lang="en-US" sz="2800" b="0" strike="noStrike"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spc="-1" dirty="0">
                <a:solidFill>
                  <a:srgbClr val="000000"/>
                </a:solidFill>
                <a:latin typeface="Calibri"/>
              </a:rPr>
              <a:t>A correct move is shown with a smile face.</a:t>
            </a:r>
          </a:p>
          <a:p>
            <a:pPr marL="228600" indent="-227965">
              <a:lnSpc>
                <a:spcPct val="90000"/>
              </a:lnSpc>
              <a:spcBef>
                <a:spcPts val="1001"/>
              </a:spcBef>
              <a:buClr>
                <a:srgbClr val="000000"/>
              </a:buClr>
              <a:buFont typeface="Arial"/>
              <a:buChar char="•"/>
            </a:pPr>
            <a:r>
              <a:rPr lang="en-US" sz="2800" spc="-1" dirty="0">
                <a:solidFill>
                  <a:srgbClr val="000000"/>
                </a:solidFill>
                <a:latin typeface="Calibri"/>
              </a:rPr>
              <a:t> Sometimes some pieces can't move. Touching them makes a frown face.  </a:t>
            </a:r>
            <a:endParaRPr lang="en-US" dirty="0"/>
          </a:p>
          <a:p>
            <a:pPr marL="635">
              <a:lnSpc>
                <a:spcPct val="90000"/>
              </a:lnSpc>
              <a:spcBef>
                <a:spcPts val="1001"/>
              </a:spcBef>
              <a:buClr>
                <a:srgbClr val="000000"/>
              </a:buClr>
            </a:pPr>
            <a:endParaRPr lang="en-US" dirty="0"/>
          </a:p>
        </p:txBody>
      </p:sp>
      <p:pic>
        <p:nvPicPr>
          <p:cNvPr id="57" name="Picture 8"/>
          <p:cNvPicPr/>
          <p:nvPr/>
        </p:nvPicPr>
        <p:blipFill>
          <a:blip r:embed="rId2"/>
          <a:stretch/>
        </p:blipFill>
        <p:spPr>
          <a:xfrm>
            <a:off x="5174558" y="1525474"/>
            <a:ext cx="2374200" cy="167076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Shape 1"/>
          <p:cNvSpPr txBox="1"/>
          <p:nvPr/>
        </p:nvSpPr>
        <p:spPr>
          <a:xfrm>
            <a:off x="770760" y="1361520"/>
            <a:ext cx="3787920" cy="4350960"/>
          </a:xfrm>
          <a:prstGeom prst="rect">
            <a:avLst/>
          </a:prstGeom>
          <a:noFill/>
          <a:ln>
            <a:noFill/>
          </a:ln>
        </p:spPr>
        <p:txBody>
          <a:bodyPr>
            <a:normAutofit fontScale="91500"/>
          </a:bodyPr>
          <a:lstStyle/>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If you can get many correct moves in a row, you will get a big reward. </a:t>
            </a:r>
          </a:p>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We will also ask what you think the rule is, and how you found it. </a:t>
            </a:r>
          </a:p>
          <a:p>
            <a:pPr marL="228600" indent="-228240">
              <a:lnSpc>
                <a:spcPct val="90000"/>
              </a:lnSpc>
              <a:spcBef>
                <a:spcPts val="1001"/>
              </a:spcBef>
              <a:buClr>
                <a:srgbClr val="000000"/>
              </a:buClr>
              <a:buFont typeface="Arial"/>
              <a:buChar char="•"/>
            </a:pPr>
            <a:r>
              <a:rPr lang="en-US" sz="2800" b="0" i="1" strike="noStrike" spc="-1" dirty="0">
                <a:solidFill>
                  <a:srgbClr val="000000"/>
                </a:solidFill>
                <a:latin typeface="Calibri"/>
              </a:rPr>
              <a:t>After entering your guess of the rule, please click “Submit” to move on with a new rule (if any).</a:t>
            </a:r>
            <a:endParaRPr lang="en-US" sz="2800" b="0" strike="noStrike" spc="-1" dirty="0">
              <a:solidFill>
                <a:srgbClr val="000000"/>
              </a:solidFill>
              <a:latin typeface="Calibri"/>
            </a:endParaRPr>
          </a:p>
        </p:txBody>
      </p:sp>
      <p:pic>
        <p:nvPicPr>
          <p:cNvPr id="67" name="Picture 6"/>
          <p:cNvPicPr/>
          <p:nvPr/>
        </p:nvPicPr>
        <p:blipFill rotWithShape="1">
          <a:blip r:embed="rId2"/>
          <a:srcRect r="34676"/>
          <a:stretch/>
        </p:blipFill>
        <p:spPr>
          <a:xfrm>
            <a:off x="4626720" y="1265040"/>
            <a:ext cx="4438258" cy="5472360"/>
          </a:xfrm>
          <a:prstGeom prst="rect">
            <a:avLst/>
          </a:prstGeom>
          <a:ln>
            <a:noFill/>
          </a:ln>
        </p:spPr>
      </p:pic>
      <p:sp>
        <p:nvSpPr>
          <p:cNvPr id="2" name="Callout: Line 1">
            <a:extLst>
              <a:ext uri="{FF2B5EF4-FFF2-40B4-BE49-F238E27FC236}">
                <a16:creationId xmlns:a16="http://schemas.microsoft.com/office/drawing/2014/main" id="{A7C45750-EA28-92B7-E427-246C61A2B0B5}"/>
              </a:ext>
            </a:extLst>
          </p:cNvPr>
          <p:cNvSpPr/>
          <p:nvPr/>
        </p:nvSpPr>
        <p:spPr>
          <a:xfrm>
            <a:off x="9064978" y="1014456"/>
            <a:ext cx="2845229" cy="1672984"/>
          </a:xfrm>
          <a:prstGeom prst="borderCallout1">
            <a:avLst>
              <a:gd name="adj1" fmla="val 101596"/>
              <a:gd name="adj2" fmla="val 47374"/>
              <a:gd name="adj3" fmla="val 248864"/>
              <a:gd name="adj4" fmla="val -111955"/>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After you explain the rule and how you found it, click Submit to continue</a:t>
            </a:r>
          </a:p>
        </p:txBody>
      </p:sp>
      <p:cxnSp>
        <p:nvCxnSpPr>
          <p:cNvPr id="4" name="Straight Arrow Connector 3">
            <a:extLst>
              <a:ext uri="{FF2B5EF4-FFF2-40B4-BE49-F238E27FC236}">
                <a16:creationId xmlns:a16="http://schemas.microsoft.com/office/drawing/2014/main" id="{357BC9BD-1E73-03C9-1880-344DCEC75B68}"/>
              </a:ext>
            </a:extLst>
          </p:cNvPr>
          <p:cNvCxnSpPr>
            <a:stCxn id="2" idx="2"/>
          </p:cNvCxnSpPr>
          <p:nvPr/>
        </p:nvCxnSpPr>
        <p:spPr>
          <a:xfrm flipH="1">
            <a:off x="6845849" y="1850948"/>
            <a:ext cx="2219129" cy="2150272"/>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23E2404-0A75-D55D-FFA5-E5C85A1D45F5}"/>
              </a:ext>
            </a:extLst>
          </p:cNvPr>
          <p:cNvCxnSpPr>
            <a:cxnSpLocks/>
            <a:stCxn id="2" idx="2"/>
          </p:cNvCxnSpPr>
          <p:nvPr/>
        </p:nvCxnSpPr>
        <p:spPr>
          <a:xfrm flipH="1">
            <a:off x="6953956" y="1850948"/>
            <a:ext cx="2111022" cy="293554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Shape 1"/>
          <p:cNvSpPr txBox="1"/>
          <p:nvPr/>
        </p:nvSpPr>
        <p:spPr>
          <a:xfrm>
            <a:off x="838080" y="1339778"/>
            <a:ext cx="3433320" cy="4350960"/>
          </a:xfrm>
          <a:prstGeom prst="rect">
            <a:avLst/>
          </a:prstGeom>
          <a:noFill/>
          <a:ln>
            <a:noFill/>
          </a:ln>
        </p:spPr>
        <p:txBody>
          <a:bodyPr lIns="91440" tIns="45720" rIns="91440" bIns="45720" anchor="t">
            <a:normAutofit fontScale="99000"/>
          </a:bodyPr>
          <a:lstStyle/>
          <a:p>
            <a:pPr marL="228600" indent="-227965">
              <a:lnSpc>
                <a:spcPct val="90000"/>
              </a:lnSpc>
              <a:spcBef>
                <a:spcPts val="1001"/>
              </a:spcBef>
              <a:buClr>
                <a:srgbClr val="000000"/>
              </a:buClr>
              <a:buFont typeface="Arial"/>
              <a:buChar char="•"/>
            </a:pPr>
            <a:r>
              <a:rPr lang="en-US" sz="2800" b="0" strike="noStrike" spc="-1" dirty="0">
                <a:solidFill>
                  <a:srgbClr val="000000"/>
                </a:solidFill>
                <a:latin typeface="Calibri"/>
              </a:rPr>
              <a:t>Now try to find the hidden rules for  yourself</a:t>
            </a:r>
            <a:endParaRPr lang="en-US"/>
          </a:p>
          <a:p>
            <a:pPr marL="228600" indent="-227965">
              <a:lnSpc>
                <a:spcPct val="90000"/>
              </a:lnSpc>
              <a:spcBef>
                <a:spcPts val="1001"/>
              </a:spcBef>
              <a:buClr>
                <a:srgbClr val="000000"/>
              </a:buClr>
              <a:buFont typeface="Arial"/>
              <a:buChar char="•"/>
            </a:pPr>
            <a:r>
              <a:rPr lang="en-US" sz="2800" spc="-1" dirty="0">
                <a:solidFill>
                  <a:srgbClr val="000000"/>
                </a:solidFill>
                <a:latin typeface="Calibri"/>
              </a:rPr>
              <a:t>Click the question mark to see these hints</a:t>
            </a:r>
            <a:endParaRPr lang="en-US" sz="2800" b="0" strike="noStrike"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b="0" strike="noStrike" spc="-1" dirty="0">
                <a:solidFill>
                  <a:srgbClr val="000000"/>
                </a:solidFill>
                <a:latin typeface="Calibri"/>
              </a:rPr>
              <a:t>Good luck! </a:t>
            </a:r>
          </a:p>
        </p:txBody>
      </p:sp>
      <p:pic>
        <p:nvPicPr>
          <p:cNvPr id="71" name="Picture 4"/>
          <p:cNvPicPr/>
          <p:nvPr/>
        </p:nvPicPr>
        <p:blipFill rotWithShape="1">
          <a:blip r:embed="rId2"/>
          <a:srcRect l="42836"/>
          <a:stretch/>
        </p:blipFill>
        <p:spPr>
          <a:xfrm>
            <a:off x="5105399" y="1323000"/>
            <a:ext cx="4464585" cy="4212000"/>
          </a:xfrm>
          <a:prstGeom prst="rect">
            <a:avLst/>
          </a:prstGeom>
          <a:ln>
            <a:noFill/>
          </a:ln>
        </p:spPr>
      </p:pic>
      <p:sp>
        <p:nvSpPr>
          <p:cNvPr id="2" name="Callout: Line 1">
            <a:extLst>
              <a:ext uri="{FF2B5EF4-FFF2-40B4-BE49-F238E27FC236}">
                <a16:creationId xmlns:a16="http://schemas.microsoft.com/office/drawing/2014/main" id="{4706DDC8-C81C-85E2-2F7E-3A02D9502749}"/>
              </a:ext>
            </a:extLst>
          </p:cNvPr>
          <p:cNvSpPr/>
          <p:nvPr/>
        </p:nvSpPr>
        <p:spPr>
          <a:xfrm>
            <a:off x="4617785" y="232145"/>
            <a:ext cx="1433305" cy="671527"/>
          </a:xfrm>
          <a:prstGeom prst="borderCallout1">
            <a:avLst>
              <a:gd name="adj1" fmla="val 47802"/>
              <a:gd name="adj2" fmla="val 97781"/>
              <a:gd name="adj3" fmla="val 193441"/>
              <a:gd name="adj4" fmla="val 313733"/>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Click for </a:t>
            </a:r>
            <a:r>
              <a:rPr lang="en-US"/>
              <a:t>these </a:t>
            </a:r>
            <a:r>
              <a:rPr lang="en-US" dirty="0"/>
              <a:t>hints!</a:t>
            </a:r>
          </a:p>
        </p:txBody>
      </p:sp>
      <p:sp>
        <p:nvSpPr>
          <p:cNvPr id="3" name="Rectangle 2">
            <a:extLst>
              <a:ext uri="{FF2B5EF4-FFF2-40B4-BE49-F238E27FC236}">
                <a16:creationId xmlns:a16="http://schemas.microsoft.com/office/drawing/2014/main" id="{F8977B08-D89F-54E2-70D9-63C89F8600D2}"/>
              </a:ext>
            </a:extLst>
          </p:cNvPr>
          <p:cNvSpPr/>
          <p:nvPr/>
        </p:nvSpPr>
        <p:spPr>
          <a:xfrm>
            <a:off x="9347200" y="1975196"/>
            <a:ext cx="1174044" cy="225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874A228-3A1A-C153-B0A2-F925A9E7ABEB}"/>
              </a:ext>
            </a:extLst>
          </p:cNvPr>
          <p:cNvSpPr/>
          <p:nvPr/>
        </p:nvSpPr>
        <p:spPr>
          <a:xfrm>
            <a:off x="1200150" y="5857868"/>
            <a:ext cx="10086975" cy="5143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Remember: You can only drop pieces into the buckets. NOT into the test tubes. </a:t>
            </a:r>
            <a:r>
              <a:rPr lang="en-US">
                <a:sym typeface="Wingdings" panose="05000000000000000000" pitchFamily="2" charset="2"/>
              </a:rPr>
              <a:t> </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4166</TotalTime>
  <Words>283</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 k</dc:creator>
  <dc:description/>
  <cp:lastModifiedBy>p kantor</cp:lastModifiedBy>
  <cp:revision>33</cp:revision>
  <cp:lastPrinted>2022-06-30T18:23:14Z</cp:lastPrinted>
  <dcterms:created xsi:type="dcterms:W3CDTF">2022-02-22T16:57:20Z</dcterms:created>
  <dcterms:modified xsi:type="dcterms:W3CDTF">2026-05-05T20:20:53Z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11</vt:i4>
  </property>
</Properties>
</file>